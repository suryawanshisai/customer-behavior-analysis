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CE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CE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0760" y="1555452"/>
            <a:ext cx="6476838" cy="3304679"/>
          </a:xfrm>
          <a:prstGeom prst="rect">
            <a:avLst/>
          </a:prstGeom>
          <a:solidFill>
            <a:srgbClr val="EEE4D7"/>
          </a:solidFill>
          <a:ln/>
        </p:spPr>
      </p:sp>
      <p:sp>
        <p:nvSpPr>
          <p:cNvPr id="3" name="Text 1"/>
          <p:cNvSpPr/>
          <p:nvPr/>
        </p:nvSpPr>
        <p:spPr>
          <a:xfrm>
            <a:off x="1057149" y="1911052"/>
            <a:ext cx="5664058" cy="119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spc="-69" kern="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1057149" y="3374132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49" y="3263106"/>
            <a:ext cx="1422265" cy="126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7149" y="3655120"/>
            <a:ext cx="566405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concise view of purchase patterns, category performance, and growth levers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61405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 purchases reveal a loyal customer base with room to grow subscriptions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985962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874937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0313" y="457200"/>
            <a:ext cx="344419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spc="-69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90313" y="1278434"/>
            <a:ext cx="390138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90313" y="2372816"/>
            <a:ext cx="344419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0" spc="-69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90313" y="3194050"/>
            <a:ext cx="390138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rating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4588768"/>
            <a:ext cx="5791055" cy="1511796"/>
          </a:xfrm>
          <a:prstGeom prst="rect">
            <a:avLst/>
          </a:prstGeom>
          <a:solidFill>
            <a:srgbClr val="EEE4D7"/>
          </a:solidFill>
          <a:ln/>
        </p:spPr>
      </p:sp>
      <p:sp>
        <p:nvSpPr>
          <p:cNvPr id="10" name="Text 7"/>
          <p:cNvSpPr/>
          <p:nvPr/>
        </p:nvSpPr>
        <p:spPr>
          <a:xfrm>
            <a:off x="457189" y="5045968"/>
            <a:ext cx="533386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MIX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189" y="5312668"/>
            <a:ext cx="4876678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loyal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095848" y="4588768"/>
            <a:ext cx="2895528" cy="1511796"/>
          </a:xfrm>
          <a:prstGeom prst="rect">
            <a:avLst/>
          </a:prstGeom>
          <a:solidFill>
            <a:srgbClr val="EEE4D7"/>
          </a:solidFill>
          <a:ln/>
        </p:spPr>
      </p:sp>
      <p:sp>
        <p:nvSpPr>
          <p:cNvPr id="13" name="Text 10"/>
          <p:cNvSpPr/>
          <p:nvPr/>
        </p:nvSpPr>
        <p:spPr>
          <a:xfrm>
            <a:off x="6553036" y="5045968"/>
            <a:ext cx="243833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53036" y="5312668"/>
            <a:ext cx="1981150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296167" y="4588768"/>
            <a:ext cx="2895528" cy="1511796"/>
          </a:xfrm>
          <a:prstGeom prst="rect">
            <a:avLst/>
          </a:prstGeom>
          <a:solidFill>
            <a:srgbClr val="EEE4D7"/>
          </a:solidFill>
          <a:ln/>
        </p:spPr>
      </p:sp>
      <p:sp>
        <p:nvSpPr>
          <p:cNvPr id="16" name="Text 13"/>
          <p:cNvSpPr/>
          <p:nvPr/>
        </p:nvSpPr>
        <p:spPr>
          <a:xfrm>
            <a:off x="9753356" y="5045968"/>
            <a:ext cx="243833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753356" y="5312668"/>
            <a:ext cx="1981150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833124" y="1909266"/>
            <a:ext cx="4358571" cy="12700"/>
          </a:xfrm>
          <a:prstGeom prst="rect">
            <a:avLst/>
          </a:prstGeom>
          <a:solidFill>
            <a:srgbClr val="5C4E3D">
              <a:alpha val="24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 drives the business, while accessories form the second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566863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455837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847850"/>
            <a:ext cx="1173450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and sales by category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2231033"/>
            <a:ext cx="10413739" cy="3810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6133108"/>
            <a:ext cx="1173450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approximately $100K revenue and roughly 1,800 purchases; Accessories approximately $75K and roughly 1,200.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78695"/>
            <a:ext cx="612640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 customers generate more than twice the revenue of female customers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3307457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3196431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3588445"/>
            <a:ext cx="658359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revenue is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female revenue is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$75,191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189" y="4062115"/>
            <a:ext cx="6126406" cy="1017191"/>
          </a:xfrm>
          <a:prstGeom prst="roundRect">
            <a:avLst>
              <a:gd name="adj" fmla="val 1124"/>
            </a:avLst>
          </a:prstGeom>
          <a:solidFill>
            <a:srgbClr val="F7EDD4"/>
          </a:solidFill>
          <a:ln/>
        </p:spPr>
      </p:sp>
      <p:sp>
        <p:nvSpPr>
          <p:cNvPr id="7" name="Text 4"/>
          <p:cNvSpPr/>
          <p:nvPr/>
        </p:nvSpPr>
        <p:spPr>
          <a:xfrm>
            <a:off x="647684" y="4300240"/>
            <a:ext cx="574541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Implication: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Test whether assortment, promotion, or customer mix explains the gap.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061" y="2169120"/>
            <a:ext cx="3779445" cy="2519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45143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LEVER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3900"/>
            <a:ext cx="5994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is the clearest growth lever: 27% of customers are subscribed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189" y="2252663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141637"/>
            <a:ext cx="1422265" cy="126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717800"/>
            <a:ext cx="5994250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spc="-90" kern="0" dirty="0">
                <a:solidFill>
                  <a:srgbClr val="A17E29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189" y="3723580"/>
            <a:ext cx="645143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subscribers out of 3,900 customers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189" y="4106763"/>
            <a:ext cx="59942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generate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$62,645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total revenue; non-subscribers generate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$170,436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816" y="888107"/>
            <a:ext cx="4368691" cy="332859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5308104"/>
            <a:ext cx="5943451" cy="1511796"/>
          </a:xfrm>
          <a:prstGeom prst="rect">
            <a:avLst/>
          </a:prstGeom>
          <a:solidFill>
            <a:srgbClr val="EEE4D7"/>
          </a:solidFill>
          <a:ln/>
        </p:spPr>
      </p:sp>
      <p:sp>
        <p:nvSpPr>
          <p:cNvPr id="11" name="Text 7"/>
          <p:cNvSpPr/>
          <p:nvPr/>
        </p:nvSpPr>
        <p:spPr>
          <a:xfrm>
            <a:off x="457189" y="5765304"/>
            <a:ext cx="54862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 AVERAGE SPEND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189" y="6032004"/>
            <a:ext cx="5029074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6248244" y="5308104"/>
            <a:ext cx="5943451" cy="1511796"/>
          </a:xfrm>
          <a:prstGeom prst="rect">
            <a:avLst/>
          </a:prstGeom>
          <a:solidFill>
            <a:srgbClr val="EEE4D7"/>
          </a:solidFill>
          <a:ln/>
        </p:spPr>
      </p:sp>
      <p:sp>
        <p:nvSpPr>
          <p:cNvPr id="14" name="Text 10"/>
          <p:cNvSpPr/>
          <p:nvPr/>
        </p:nvSpPr>
        <p:spPr>
          <a:xfrm>
            <a:off x="6705432" y="5765304"/>
            <a:ext cx="54862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 AVERAGE SPEND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05432" y="6032004"/>
            <a:ext cx="5029074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$59.87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Discounts influence demand without lifting average order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566863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455837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847850"/>
            <a:ext cx="1173450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discounting as a product-level lever, not a blanket growth strategy.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321520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4E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4E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Discount-dependent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4E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Read-through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50.00%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Highest signal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Sneakers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49.66%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High signal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Coat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49.07%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High signal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Sweater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48.17%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Meaningful signal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Pants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47.37%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Meaningful signal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189" y="5093692"/>
            <a:ext cx="1173450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high-spending discount users. Average order value does not lift with discount use.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Small product signals can sharpen merchandising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147763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036737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428750"/>
            <a:ext cx="1173450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Top-rated products, average rating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1811933"/>
            <a:ext cx="10413739" cy="3810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5714008"/>
            <a:ext cx="1173450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leaders: Jewelry, Blouse and Pants, Sandals, and Jacket.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271613"/>
            <a:ext cx="5994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Young adults are the largest age-group revenue contributor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3381276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3270250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3662263"/>
            <a:ext cx="59942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 leads at </a:t>
            </a:r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but the four age groups are relatively close.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189" y="4406404"/>
            <a:ext cx="645143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21" kern="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spread from Young Adult to Senior is $6,380.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5816" y="2359124"/>
          <a:ext cx="9143771" cy="914400"/>
        </p:xfrm>
        <a:graphic>
          <a:graphicData uri="http://schemas.openxmlformats.org/drawingml/2006/table">
            <a:tbl>
              <a:tblPr/>
              <a:tblGrid>
                <a:gridCol w="2446467"/>
                <a:gridCol w="1922224"/>
              </a:tblGrid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4E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 group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C4E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Revenue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Young Adult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$62,143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Middle-aged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$59,197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Adult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$55,978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Senior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$55,763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dashboard brings the customer story into one 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147763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036737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428750"/>
            <a:ext cx="1127731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count, average purchase, review rating, subscription mix, category revenue, category sales, age-group revenue, and age-group sales.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2172891"/>
            <a:ext cx="7340416" cy="39335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6309618"/>
            <a:ext cx="1173450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Supplied Power BI dashboard · the complete customer story in one view.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2134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30" kern="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Five moves can turn the analysis into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566863"/>
            <a:ext cx="1422265" cy="31651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455837"/>
            <a:ext cx="1422265" cy="12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847850"/>
            <a:ext cx="7213420" cy="239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Boost subscriptions: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Test exclusive benefits designed to convert loyal non-subscribers.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Reward loyalty: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 repeat-purchase benefits to move returning customers upward.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Refine discounts: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Focus promotions on discount-dependent products.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Merchandise the winners: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Feature top-rated and best-selling products.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Target by value: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Prioritize high-revenue age groups and express-shipping users.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2026-09-30T10:50:31Z</dcterms:created>
  <dcterms:modified xsi:type="dcterms:W3CDTF">2026-09-30T10:50:31Z</dcterms:modified>
</cp:coreProperties>
</file>